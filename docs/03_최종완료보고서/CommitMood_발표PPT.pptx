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retendard Regular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1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23.png" Type="http://schemas.openxmlformats.org/officeDocument/2006/relationships/image"/><Relationship Id="rId6" Target="../media/image13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35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1.png" Type="http://schemas.openxmlformats.org/officeDocument/2006/relationships/image"/><Relationship Id="rId6" Target="../media/image36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13.png" Type="http://schemas.openxmlformats.org/officeDocument/2006/relationships/image"/><Relationship Id="rId2" Target="../media/image11.png" Type="http://schemas.openxmlformats.org/officeDocument/2006/relationships/image"/><Relationship Id="rId3" Target="../media/image38.png" Type="http://schemas.openxmlformats.org/officeDocument/2006/relationships/image"/><Relationship Id="rId4" Target="../media/image1.png" Type="http://schemas.openxmlformats.org/officeDocument/2006/relationships/image"/><Relationship Id="rId5" Target="../media/image1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39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2" Target="../media/image11.png" Type="http://schemas.openxmlformats.org/officeDocument/2006/relationships/image"/><Relationship Id="rId3" Target="../media/image38.png" Type="http://schemas.openxmlformats.org/officeDocument/2006/relationships/image"/><Relationship Id="rId4" Target="../media/image1.png" Type="http://schemas.openxmlformats.org/officeDocument/2006/relationships/image"/><Relationship Id="rId5" Target="../media/image1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13.png" Type="http://schemas.openxmlformats.org/officeDocument/2006/relationships/image"/><Relationship Id="rId2" Target="../media/image11.png" Type="http://schemas.openxmlformats.org/officeDocument/2006/relationships/image"/><Relationship Id="rId3" Target="../media/image38.png" Type="http://schemas.openxmlformats.org/officeDocument/2006/relationships/image"/><Relationship Id="rId4" Target="../media/image1.png" Type="http://schemas.openxmlformats.org/officeDocument/2006/relationships/image"/><Relationship Id="rId5" Target="../media/image1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1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0">
            <a:off x="1219200" y="990600"/>
            <a:ext cx="158496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0">
            <a:off x="1219200" y="8001000"/>
            <a:ext cx="158496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 rot="0">
            <a:off x="1219200" y="9347200"/>
            <a:ext cx="158496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0000" y="8331200"/>
            <a:ext cx="355600" cy="393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270000" y="3771900"/>
            <a:ext cx="88011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4580"/>
              </a:lnSpc>
            </a:pPr>
            <a:r>
              <a:rPr lang="en-US" sz="7200" b="false" i="false" u="none" strike="noStrike">
                <a:solidFill>
                  <a:srgbClr val="000000"/>
                </a:solidFill>
                <a:latin typeface="Hallym Gothic Bold"/>
              </a:rPr>
              <a:t>CommitMood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3400" y="8331200"/>
            <a:ext cx="16891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Hallym Gothic Bold"/>
              </a:rPr>
              <a:t>PRESENTER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3400" y="8801100"/>
            <a:ext cx="16891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한예성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700" y="1206500"/>
            <a:ext cx="27305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Hallym Gothic Medium"/>
              </a:rPr>
              <a:t>2025.12.26(</a:t>
            </a:r>
            <a:r>
              <a:rPr lang="ko-KR" sz="1600" b="false" i="false" u="none" strike="noStrike">
                <a:solidFill>
                  <a:srgbClr val="000000"/>
                </a:solidFill>
                <a:ea typeface="Hallym Gothic Medium"/>
              </a:rPr>
              <a:t>금</a:t>
            </a:r>
            <a:r>
              <a:rPr lang="en-US" sz="1600" b="false" i="false" u="none" strike="noStrike">
                <a:solidFill>
                  <a:srgbClr val="000000"/>
                </a:solidFill>
                <a:latin typeface="Hallym Gothic Medium"/>
              </a:rPr>
              <a:t>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91000" y="8801100"/>
            <a:ext cx="2247900" cy="25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SSAFY 14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기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서울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9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반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9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91000" y="8331200"/>
            <a:ext cx="1943100" cy="292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600" b="false" i="false" u="none" strike="noStrike">
                <a:solidFill>
                  <a:srgbClr val="000000"/>
                </a:solidFill>
                <a:latin typeface="Hallym Gothic Bold"/>
              </a:rPr>
              <a:t>DEPARTMENT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95700" y="8318500"/>
            <a:ext cx="342900" cy="355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5481300" y="8699500"/>
            <a:ext cx="1739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SSAFY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8300" y="406400"/>
            <a:ext cx="4991100" cy="9499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29000"/>
          </a:blip>
          <a:stretch>
            <a:fillRect/>
          </a:stretch>
        </p:blipFill>
        <p:spPr>
          <a:xfrm rot="0">
            <a:off x="6032500" y="5346700"/>
            <a:ext cx="111125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29000"/>
          </a:blip>
          <a:stretch>
            <a:fillRect/>
          </a:stretch>
        </p:blipFill>
        <p:spPr>
          <a:xfrm rot="0">
            <a:off x="7937500" y="3263900"/>
            <a:ext cx="2603500" cy="127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937500" y="2590800"/>
            <a:ext cx="22733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서비스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개요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2900" y="3505200"/>
            <a:ext cx="2578100" cy="698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GitHub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커밋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메시지를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분석해</a:t>
            </a:r>
          </a:p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개발자의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커밋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습관과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감정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흐름을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보여주는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서비스</a:t>
            </a:r>
          </a:p>
        </p:txBody>
      </p:sp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47300" y="2603500"/>
            <a:ext cx="406400" cy="406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172700" y="2667000"/>
            <a:ext cx="3429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 spc="-100">
                <a:solidFill>
                  <a:srgbClr val="FFFFFF"/>
                </a:solidFill>
                <a:latin typeface="Hallym Gothic Medium"/>
              </a:rPr>
              <a:t>01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alphaModFix amt="29000"/>
          </a:blip>
          <a:stretch>
            <a:fillRect/>
          </a:stretch>
        </p:blipFill>
        <p:spPr>
          <a:xfrm rot="0">
            <a:off x="14541500" y="3263900"/>
            <a:ext cx="2603500" cy="12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4541500" y="2590800"/>
            <a:ext cx="22606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개발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결과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41500" y="3479800"/>
            <a:ext cx="26416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기획부터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배포까지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단계적으로</a:t>
            </a:r>
          </a:p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개발하여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핵심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기능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구현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alphaModFix amt="29000"/>
          </a:blip>
          <a:stretch>
            <a:fillRect/>
          </a:stretch>
        </p:blipFill>
        <p:spPr>
          <a:xfrm rot="0">
            <a:off x="7937500" y="7162800"/>
            <a:ext cx="2603500" cy="12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937500" y="6438900"/>
            <a:ext cx="20066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시연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영상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37500" y="7340600"/>
            <a:ext cx="2654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로그인부터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분석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결과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조회까지</a:t>
            </a:r>
          </a:p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실제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사용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흐름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시연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alphaModFix amt="29000"/>
          </a:blip>
          <a:stretch>
            <a:fillRect/>
          </a:stretch>
        </p:blipFill>
        <p:spPr>
          <a:xfrm rot="0">
            <a:off x="11226800" y="3263900"/>
            <a:ext cx="2603500" cy="12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226800" y="2590800"/>
            <a:ext cx="22733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주요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기능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26800" y="3492500"/>
            <a:ext cx="26416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GitHub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로그인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커밋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수집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/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분석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통계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및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랭킹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제공</a:t>
            </a:r>
          </a:p>
        </p:txBody>
      </p:sp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36600" y="2603500"/>
            <a:ext cx="406400" cy="4064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3462000" y="2667000"/>
            <a:ext cx="3429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 spc="-100">
                <a:solidFill>
                  <a:srgbClr val="FFFFFF"/>
                </a:solidFill>
                <a:latin typeface="Hallym Gothic Medium"/>
              </a:rPr>
              <a:t>02</a:t>
            </a:r>
          </a:p>
        </p:txBody>
      </p: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738600" y="2603500"/>
            <a:ext cx="406400" cy="4064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6764000" y="2667000"/>
            <a:ext cx="3429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 spc="-100">
                <a:solidFill>
                  <a:srgbClr val="FFFFFF"/>
                </a:solidFill>
                <a:latin typeface="Hallym Gothic Medium"/>
              </a:rPr>
              <a:t>03</a:t>
            </a:r>
          </a:p>
        </p:txBody>
      </p:sp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147300" y="6464300"/>
            <a:ext cx="406400" cy="4064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0172700" y="6527800"/>
            <a:ext cx="3429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 spc="-100">
                <a:solidFill>
                  <a:srgbClr val="FFFFFF"/>
                </a:solidFill>
                <a:latin typeface="Hallym Gothic Medium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1400" y="2387600"/>
            <a:ext cx="38608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200">
                <a:solidFill>
                  <a:srgbClr val="000000"/>
                </a:solidFill>
                <a:ea typeface="Hallym Gothic Bold"/>
              </a:rPr>
              <a:t>목차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32500" y="2590800"/>
            <a:ext cx="13589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800" b="false" i="false" u="none" strike="noStrike" spc="-100">
                <a:solidFill>
                  <a:srgbClr val="000000"/>
                </a:solidFill>
                <a:ea typeface="Hallym Gothic Medium"/>
              </a:rPr>
              <a:t>첫</a:t>
            </a:r>
            <a:r>
              <a:rPr lang="en-US" sz="1800" b="false" i="false" u="none" strike="noStrike" spc="-100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 spc="-100">
                <a:solidFill>
                  <a:srgbClr val="000000"/>
                </a:solidFill>
                <a:ea typeface="Hallym Gothic Medium"/>
              </a:rPr>
              <a:t>번째</a:t>
            </a:r>
          </a:p>
          <a:p>
            <a:pPr algn="l" lvl="0">
              <a:lnSpc>
                <a:spcPct val="99600"/>
              </a:lnSpc>
            </a:pPr>
            <a:r>
              <a:rPr lang="ko-KR" sz="1800" b="false" i="false" u="none" strike="noStrike" spc="-100">
                <a:solidFill>
                  <a:srgbClr val="000000"/>
                </a:solidFill>
                <a:ea typeface="Hallym Gothic Medium"/>
              </a:rPr>
              <a:t>파트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32500" y="6477000"/>
            <a:ext cx="1358900" cy="59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1800" b="false" i="false" u="none" strike="noStrike" spc="-100">
                <a:solidFill>
                  <a:srgbClr val="000000"/>
                </a:solidFill>
                <a:ea typeface="Hallym Gothic Medium"/>
              </a:rPr>
              <a:t>두</a:t>
            </a:r>
            <a:r>
              <a:rPr lang="en-US" sz="1800" b="false" i="false" u="none" strike="noStrike" spc="-100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 spc="-100">
                <a:solidFill>
                  <a:srgbClr val="000000"/>
                </a:solidFill>
                <a:ea typeface="Hallym Gothic Medium"/>
              </a:rPr>
              <a:t>번째</a:t>
            </a:r>
          </a:p>
          <a:p>
            <a:pPr algn="l" lvl="0">
              <a:lnSpc>
                <a:spcPct val="99600"/>
              </a:lnSpc>
            </a:pPr>
            <a:r>
              <a:rPr lang="ko-KR" sz="1800" b="false" i="false" u="none" strike="noStrike" spc="-100">
                <a:solidFill>
                  <a:srgbClr val="000000"/>
                </a:solidFill>
                <a:ea typeface="Hallym Gothic Medium"/>
              </a:rPr>
              <a:t>파트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7">
            <a:alphaModFix amt="29000"/>
          </a:blip>
          <a:stretch>
            <a:fillRect/>
          </a:stretch>
        </p:blipFill>
        <p:spPr>
          <a:xfrm rot="0">
            <a:off x="11226800" y="7137400"/>
            <a:ext cx="2603500" cy="127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1226800" y="6438900"/>
            <a:ext cx="2120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개발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Medium"/>
              </a:rPr>
              <a:t>후기</a:t>
            </a:r>
          </a:p>
        </p:txBody>
      </p:sp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36600" y="6464300"/>
            <a:ext cx="406400" cy="4064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3462000" y="6527800"/>
            <a:ext cx="3429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 spc="-100">
                <a:solidFill>
                  <a:srgbClr val="FFFFFF"/>
                </a:solidFill>
                <a:latin typeface="Hallym Gothic Medium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6000" y="4838700"/>
            <a:ext cx="3746500" cy="223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GitHub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메시지를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수집하고</a:t>
            </a:r>
          </a:p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분석하여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개발자의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습관과</a:t>
            </a:r>
          </a:p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감정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흐름을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시각화하는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서비스입니다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OAuth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기반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인증과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자동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수집</a:t>
            </a:r>
          </a:p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파이프라인을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통해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개인화된</a:t>
            </a:r>
          </a:p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분석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결과를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제공합니다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26800" y="7340600"/>
            <a:ext cx="26416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백엔드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설계와</a:t>
            </a:r>
          </a:p>
          <a:p>
            <a:pPr algn="l" lvl="0">
              <a:lnSpc>
                <a:spcPct val="107899"/>
              </a:lnSpc>
            </a:pP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인증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•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데이터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처리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경험</a:t>
            </a:r>
            <a:r>
              <a:rPr lang="en-US" sz="14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1400" b="false" i="false" u="none" strike="noStrike">
                <a:solidFill>
                  <a:srgbClr val="9E9E9E"/>
                </a:solidFill>
                <a:ea typeface="Hallym Gothic Regular"/>
              </a:rPr>
              <a:t>회고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937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92100" y="4406900"/>
            <a:ext cx="177038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서비스</a:t>
            </a:r>
            <a:r>
              <a:rPr lang="en-US" sz="7200" b="false" i="false" u="none" strike="noStrike">
                <a:solidFill>
                  <a:srgbClr val="154C45"/>
                </a:solidFill>
                <a:latin typeface="Hallym Gothic Bold"/>
              </a:rPr>
              <a:t> </a:t>
            </a: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개요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700" y="1333500"/>
            <a:ext cx="62357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서비스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개요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000" y="4203700"/>
            <a:ext cx="7556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서비스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소개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45700" y="1371600"/>
            <a:ext cx="59182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5400000">
            <a:off x="6845300" y="6388100"/>
            <a:ext cx="48133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946400" y="5676900"/>
            <a:ext cx="1574800" cy="1574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51000" y="5753100"/>
            <a:ext cx="1422400" cy="142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711700" y="5829300"/>
            <a:ext cx="4051300" cy="1257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739900" y="8140700"/>
            <a:ext cx="72390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GitHub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메시지를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기반으로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 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개발자의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습관과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감정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흐름을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보여주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서비스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1200" y="4203700"/>
            <a:ext cx="4127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기획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배경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/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문제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인식</a:t>
            </a:r>
          </a:p>
        </p:txBody>
      </p:sp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0" id="20"/>
          <p:cNvSpPr txBox="true"/>
          <p:nvPr/>
        </p:nvSpPr>
        <p:spPr>
          <a:xfrm rot="0">
            <a:off x="10071100" y="5029200"/>
            <a:ext cx="3835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기획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배경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01200" y="5016500"/>
            <a:ext cx="368300" cy="355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702800" y="5499100"/>
            <a:ext cx="6642100" cy="1435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데이터의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활용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범위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제한</a:t>
            </a:r>
          </a:p>
          <a:p>
            <a:pPr algn="l" lvl="1" indent="-342900" marL="546100">
              <a:lnSpc>
                <a:spcPct val="153550"/>
              </a:lnSpc>
              <a:buClr>
                <a:srgbClr val="595959"/>
              </a:buClr>
              <a:buFont typeface="Arial"/>
              <a:buChar char="○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과정에서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메시지는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 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대부분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이력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확인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용도로만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사용</a:t>
            </a:r>
          </a:p>
          <a:p>
            <a:pPr algn="l" lvl="1" indent="-342900" marL="546100">
              <a:lnSpc>
                <a:spcPct val="153550"/>
              </a:lnSpc>
              <a:buClr>
                <a:srgbClr val="595959"/>
              </a:buClr>
              <a:buFont typeface="Arial"/>
              <a:buChar char="○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커밋에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담긴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작업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흐름과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상태는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충분히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활용되지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않음</a:t>
            </a:r>
          </a:p>
          <a:p>
            <a:pPr algn="l" lvl="0">
              <a:lnSpc>
                <a:spcPct val="15355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</p:txBody>
      </p:sp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4" id="24"/>
          <p:cNvSpPr txBox="true"/>
          <p:nvPr/>
        </p:nvSpPr>
        <p:spPr>
          <a:xfrm rot="0">
            <a:off x="10109200" y="6896100"/>
            <a:ext cx="3835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문제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인식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52000" y="6896100"/>
            <a:ext cx="368300" cy="3556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9740900" y="7404100"/>
            <a:ext cx="6642100" cy="1384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기록은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많지만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해석은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부족함</a:t>
            </a:r>
          </a:p>
          <a:p>
            <a:pPr algn="l" lvl="1" indent="-342900" marL="546100">
              <a:lnSpc>
                <a:spcPct val="153550"/>
              </a:lnSpc>
              <a:buClr>
                <a:srgbClr val="595959"/>
              </a:buClr>
              <a:buFont typeface="Arial"/>
              <a:buChar char="○"/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GitHub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로그를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단순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나열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→ 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작업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흐름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,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패턴을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파악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어려움</a:t>
            </a:r>
          </a:p>
          <a:p>
            <a:pPr algn="l" lvl="1" indent="-342900" marL="546100">
              <a:lnSpc>
                <a:spcPct val="153550"/>
              </a:lnSpc>
              <a:buClr>
                <a:srgbClr val="595959"/>
              </a:buClr>
              <a:buFont typeface="Arial"/>
              <a:buChar char="○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개발자가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스스로를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돌아볼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있는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기준이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부족함</a:t>
            </a:r>
          </a:p>
          <a:p>
            <a:pPr algn="l" lvl="0">
              <a:lnSpc>
                <a:spcPct val="107899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86300" y="6489700"/>
            <a:ext cx="1257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600" b="true" i="false" u="none" strike="noStrike">
                <a:solidFill>
                  <a:srgbClr val="000000"/>
                </a:solidFill>
                <a:ea typeface="Pretendard Regular"/>
              </a:rPr>
              <a:t>커밋</a:t>
            </a:r>
            <a:r>
              <a:rPr lang="en-US" sz="16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true" i="false" u="none" strike="noStrike">
                <a:solidFill>
                  <a:srgbClr val="000000"/>
                </a:solidFill>
                <a:ea typeface="Pretendard Regular"/>
              </a:rPr>
              <a:t>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88000" y="6146800"/>
            <a:ext cx="1257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600" b="true" i="false" u="none" strike="noStrike">
                <a:solidFill>
                  <a:srgbClr val="000000"/>
                </a:solidFill>
                <a:ea typeface="Pretendard Regular"/>
              </a:rPr>
              <a:t>커밋</a:t>
            </a:r>
            <a:r>
              <a:rPr lang="en-US" sz="1600" b="true" i="false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1600" b="true" i="false" u="none" strike="noStrike">
                <a:solidFill>
                  <a:srgbClr val="000000"/>
                </a:solidFill>
                <a:ea typeface="Pretendard Regular"/>
              </a:rPr>
              <a:t>습관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02400" y="6489700"/>
            <a:ext cx="1257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600" b="true" i="false" u="none" strike="noStrike">
                <a:solidFill>
                  <a:srgbClr val="000000"/>
                </a:solidFill>
                <a:ea typeface="Pretendard Regular"/>
              </a:rPr>
              <a:t>랭킹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04100" y="6146800"/>
            <a:ext cx="1257300" cy="29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600" b="true" i="false" u="none" strike="noStrike">
                <a:solidFill>
                  <a:srgbClr val="000000"/>
                </a:solidFill>
                <a:ea typeface="Pretendard Regular"/>
              </a:rPr>
              <a:t>인사이트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700" y="1333500"/>
            <a:ext cx="62357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서비스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개요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000" y="4203700"/>
            <a:ext cx="7556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서비스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목적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45700" y="1371600"/>
            <a:ext cx="59182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5400000">
            <a:off x="6845300" y="6388100"/>
            <a:ext cx="48133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42100" y="5359400"/>
            <a:ext cx="2222500" cy="219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63700" y="5219700"/>
            <a:ext cx="3251200" cy="2463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359400" y="6083300"/>
            <a:ext cx="850900" cy="7493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739900" y="8140700"/>
            <a:ext cx="72390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개발자가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자신의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습관을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객관적으로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돌아볼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있도록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지원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1200" y="4203700"/>
            <a:ext cx="4127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핵심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아이디어</a:t>
            </a:r>
          </a:p>
        </p:txBody>
      </p:sp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0" id="20"/>
          <p:cNvSpPr txBox="true"/>
          <p:nvPr/>
        </p:nvSpPr>
        <p:spPr>
          <a:xfrm rot="0">
            <a:off x="10071100" y="5029200"/>
            <a:ext cx="3835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주요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내용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01200" y="5016500"/>
            <a:ext cx="368300" cy="355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9740900" y="7404100"/>
            <a:ext cx="6642100" cy="1384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개발자의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작업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패턴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인식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및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회고에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활용</a:t>
            </a:r>
          </a:p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기록을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단순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로그가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아닌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의미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있는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데이터로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전환</a:t>
            </a:r>
          </a:p>
          <a:p>
            <a:pPr algn="l" lvl="0">
              <a:lnSpc>
                <a:spcPct val="15355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02800" y="5499100"/>
            <a:ext cx="6642100" cy="1435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GitHub OAuth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자동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수집</a:t>
            </a:r>
          </a:p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메시지에서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감정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키워드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추출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및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통계화</a:t>
            </a:r>
          </a:p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개인별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•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기간별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분석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결과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시각화</a:t>
            </a:r>
          </a:p>
          <a:p>
            <a:pPr algn="l" lvl="0">
              <a:lnSpc>
                <a:spcPct val="15355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</p:txBody>
      </p:sp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5" id="25"/>
          <p:cNvSpPr txBox="true"/>
          <p:nvPr/>
        </p:nvSpPr>
        <p:spPr>
          <a:xfrm rot="0">
            <a:off x="10109200" y="6896100"/>
            <a:ext cx="3835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기대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효과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52000" y="6896100"/>
            <a:ext cx="3683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8039100" y="5092700"/>
            <a:ext cx="22225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89100" y="4203700"/>
            <a:ext cx="29210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시장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현황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및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한계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01200" y="4203700"/>
            <a:ext cx="2959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차별화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포인트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SEIZEDATA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3700" y="1333500"/>
            <a:ext cx="76327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시장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분석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33600" y="5156200"/>
            <a:ext cx="70612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개인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개발자의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습관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/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컨디션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/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회고에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초점을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둔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서비스는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드묾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1000" y="5143500"/>
            <a:ext cx="368300" cy="355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02700" y="6210300"/>
            <a:ext cx="482600" cy="482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790700" y="5689600"/>
            <a:ext cx="7150100" cy="1028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272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GitHub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데이터를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활용한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개발자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분석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서비스는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이미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존재</a:t>
            </a:r>
          </a:p>
          <a:p>
            <a:pPr algn="l" lvl="1" indent="-342900" marL="546100">
              <a:lnSpc>
                <a:spcPct val="152720"/>
              </a:lnSpc>
              <a:buClr>
                <a:srgbClr val="595959"/>
              </a:buClr>
              <a:buFont typeface="Arial"/>
              <a:buChar char="○"/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LinearB, WakaTime, code-mood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등</a:t>
            </a:r>
          </a:p>
          <a:p>
            <a:pPr algn="l" lvl="1" indent="-342900" marL="546100">
              <a:lnSpc>
                <a:spcPct val="152720"/>
              </a:lnSpc>
              <a:buClr>
                <a:srgbClr val="595959"/>
              </a:buClr>
              <a:buFont typeface="Arial"/>
              <a:buChar char="○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대부분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/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조직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생산성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중심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지표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제공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45700" y="1371600"/>
            <a:ext cx="5918200" cy="10668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0" id="20"/>
          <p:cNvSpPr txBox="true"/>
          <p:nvPr/>
        </p:nvSpPr>
        <p:spPr>
          <a:xfrm rot="0">
            <a:off x="10058400" y="5118100"/>
            <a:ext cx="6883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커밋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메시지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기반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키워드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분석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88500" y="5118100"/>
            <a:ext cx="368300" cy="3556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2133600" y="7048500"/>
            <a:ext cx="70612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기존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서비스의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한계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1000" y="7035800"/>
            <a:ext cx="368300" cy="3556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790700" y="7581900"/>
            <a:ext cx="7137400" cy="647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27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생산성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수치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중심으로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개발자의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상태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/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흐름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파악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어려움</a:t>
            </a:r>
          </a:p>
          <a:p>
            <a:pPr algn="l" lvl="0" indent="-342900" marL="342900">
              <a:lnSpc>
                <a:spcPct val="15272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관리자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관점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위주로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개인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회고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도구로는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한계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1000" y="7035800"/>
            <a:ext cx="368300" cy="3556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7" id="27"/>
          <p:cNvSpPr txBox="true"/>
          <p:nvPr/>
        </p:nvSpPr>
        <p:spPr>
          <a:xfrm rot="0">
            <a:off x="10045700" y="6616700"/>
            <a:ext cx="6883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타인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평가가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아닌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자기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이해와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성장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중심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서비스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88500" y="6616700"/>
            <a:ext cx="368300" cy="3556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30" id="30"/>
          <p:cNvSpPr txBox="true"/>
          <p:nvPr/>
        </p:nvSpPr>
        <p:spPr>
          <a:xfrm rot="0">
            <a:off x="10058400" y="5867400"/>
            <a:ext cx="6883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커밋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빈도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/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스트릭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/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시간대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분석을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통한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개발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습관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시각화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588500" y="5867400"/>
            <a:ext cx="368300" cy="3556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9423400" y="7886700"/>
            <a:ext cx="74930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"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개발자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개인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회고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및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자기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분석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도구로써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활용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"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2">
            <a:alphaModFix amt="30000"/>
          </a:blip>
          <a:stretch>
            <a:fillRect/>
          </a:stretch>
        </p:blipFill>
        <p:spPr>
          <a:xfrm rot="5400000">
            <a:off x="8115300" y="7721600"/>
            <a:ext cx="20828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12300" y="7696200"/>
            <a:ext cx="10541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700" y="1333500"/>
            <a:ext cx="62357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핵심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기술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000" y="4203700"/>
            <a:ext cx="7556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개발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환경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45700" y="1371600"/>
            <a:ext cx="5918200" cy="106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705100" y="5842000"/>
            <a:ext cx="1435100" cy="1244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59300" y="5740400"/>
            <a:ext cx="1435100" cy="14351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061700" y="6934200"/>
            <a:ext cx="1905000" cy="1701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417300" y="5105400"/>
            <a:ext cx="1193800" cy="1447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47200" y="5118100"/>
            <a:ext cx="1435100" cy="1435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443200" y="5118100"/>
            <a:ext cx="1435100" cy="1435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195300" y="4940300"/>
            <a:ext cx="1778000" cy="177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565900" y="5740400"/>
            <a:ext cx="1422400" cy="1422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>
            <a:alphaModFix amt="30000"/>
          </a:blip>
          <a:stretch>
            <a:fillRect/>
          </a:stretch>
        </p:blipFill>
        <p:spPr>
          <a:xfrm rot="5400000">
            <a:off x="6845300" y="6388100"/>
            <a:ext cx="4813300" cy="12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844800" y="7429500"/>
            <a:ext cx="11430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Vue.js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92600" y="7302500"/>
            <a:ext cx="19685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2919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Spring</a:t>
            </a:r>
          </a:p>
          <a:p>
            <a:pPr algn="ctr" lvl="0">
              <a:lnSpc>
                <a:spcPct val="102919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Spring Boot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05600" y="7429500"/>
            <a:ext cx="11430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MySQL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1200" y="4203700"/>
            <a:ext cx="2705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배포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환경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74200" y="6642100"/>
            <a:ext cx="11430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Route 53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50600" y="6642100"/>
            <a:ext cx="17272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Amazon EC2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20700" y="6642100"/>
            <a:ext cx="17272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Amazon ELB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290800" y="6642100"/>
            <a:ext cx="1727200" cy="279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4110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AWS ACM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700" y="1333500"/>
            <a:ext cx="62357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시스템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구조도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9700" y="4800600"/>
            <a:ext cx="15481300" cy="330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45700" y="1371600"/>
            <a:ext cx="59182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397000" y="3937000"/>
          <a:ext cx="15519400" cy="4864100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  <a:gridCol w="2590800"/>
                <a:gridCol w="2590800"/>
                <a:gridCol w="2590800"/>
              </a:tblGrid>
              <a:tr h="990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날짜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일정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800" b="false" i="false" u="none" strike="noStrike">
                          <a:solidFill>
                            <a:srgbClr val="FFFFFF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날짜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800" b="false" i="false" u="none" strike="noStrike">
                          <a:solidFill>
                            <a:srgbClr val="FFFFFF"/>
                          </a:solidFill>
                          <a:ea typeface="S-Core Dream 5 Medium"/>
                        </a:rPr>
                        <a:t>일정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800" b="false" i="false" u="none" strike="noStrike">
                          <a:solidFill>
                            <a:srgbClr val="FFFFFF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990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11.20 ~ 11.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24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초기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기획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프로젝트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세팅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12.09 ~ 12.12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테스트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보강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구조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리팩토링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11.25 ~ 11.30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데이터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수집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파이프라인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구축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(batch)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12.09 ~ 12.12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인프라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구성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배포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977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12.01 ~ 12.05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도메인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API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핵심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기능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구현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12.19 ~ 12.24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문서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정리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발표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자료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준비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7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12.06 ~ 12.08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분석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및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랭킹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기능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설계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12.26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관통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프로젝트</a:t>
                      </a: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> </a:t>
                      </a:r>
                      <a:r>
                        <a:rPr lang="ko-KR" sz="1700" b="false" i="false" u="none" strike="noStrike">
                          <a:solidFill>
                            <a:srgbClr val="787878"/>
                          </a:solidFill>
                          <a:ea typeface="S-Core Dream 5 Medium"/>
                        </a:rPr>
                        <a:t>발표</a:t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63700" y="1333500"/>
            <a:ext cx="37973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개발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일정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1689100"/>
            <a:ext cx="7772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관통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프로젝트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진행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일정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937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92100" y="4406900"/>
            <a:ext cx="177038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주요</a:t>
            </a:r>
            <a:r>
              <a:rPr lang="en-US" sz="7200" b="false" i="false" u="none" strike="noStrike">
                <a:solidFill>
                  <a:srgbClr val="154C45"/>
                </a:solidFill>
                <a:latin typeface="Hallym Gothic Bold"/>
              </a:rPr>
              <a:t> </a:t>
            </a: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기능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663700" y="1333500"/>
            <a:ext cx="62357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주요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기능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4000"/>
          </a:blip>
          <a:stretch>
            <a:fillRect/>
          </a:stretch>
        </p:blipFill>
        <p:spPr>
          <a:xfrm rot="0">
            <a:off x="381000" y="3009900"/>
            <a:ext cx="17513300" cy="6896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22400" y="5600700"/>
            <a:ext cx="15430500" cy="1587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6527800" y="4330700"/>
            <a:ext cx="103759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GitHub OAuth2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기반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인증으로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별도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회원가입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없이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로그인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GitHub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사용자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ID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기준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내부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사요자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계정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자동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생성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및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연동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Access Token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발급을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통한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이후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API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요청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인증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처리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27800" y="5918200"/>
            <a:ext cx="103759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GitHub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이력을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기반으로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연속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일수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계산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날짜별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여부를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집계하여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스트릭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유지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여부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판단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사용자별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최대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스트릭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및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현재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스트릭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정보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제공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27800" y="7505700"/>
            <a:ext cx="103886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사용자별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수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및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분석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지표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기반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랭킹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산출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메시지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키워드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분석을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통한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커밋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성향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파악</a:t>
            </a:r>
          </a:p>
          <a:p>
            <a:pPr algn="l" lvl="0" indent="-342900" marL="342900">
              <a:lnSpc>
                <a:spcPct val="116199"/>
              </a:lnSpc>
              <a:buClr>
                <a:srgbClr val="595959"/>
              </a:buClr>
              <a:buFont typeface="Arial"/>
              <a:buChar char="●"/>
            </a:pP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전체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사용자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대비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개인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활동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수준을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수치로</a:t>
            </a:r>
            <a:r>
              <a:rPr lang="en-US" sz="18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800" b="false" i="false" u="none" strike="noStrike">
                <a:solidFill>
                  <a:srgbClr val="595959"/>
                </a:solidFill>
                <a:ea typeface="Hallym Gothic Regular"/>
              </a:rPr>
              <a:t>시각화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9000" y="4584700"/>
            <a:ext cx="4432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Hallym Gothic Medium"/>
              </a:rPr>
              <a:t>GitHub OAuth </a:t>
            </a:r>
            <a:r>
              <a:rPr lang="ko-KR" sz="2400" b="false" i="false" u="none" strike="noStrike">
                <a:solidFill>
                  <a:srgbClr val="000000"/>
                </a:solidFill>
                <a:ea typeface="Hallym Gothic Medium"/>
              </a:rPr>
              <a:t>로그인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9000" y="6184900"/>
            <a:ext cx="4432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Hallym Gothic Medium"/>
              </a:rPr>
              <a:t>커밋</a:t>
            </a:r>
            <a:r>
              <a:rPr lang="en-US" sz="24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Hallym Gothic Medium"/>
              </a:rPr>
              <a:t>스트릭</a:t>
            </a:r>
            <a:r>
              <a:rPr lang="en-US" sz="24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Hallym Gothic Medium"/>
              </a:rPr>
              <a:t>조회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1409700" y="5575300"/>
            <a:ext cx="15481300" cy="12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 rot="0">
            <a:off x="1409700" y="7175500"/>
            <a:ext cx="15481300" cy="1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8775700"/>
            <a:ext cx="15481300" cy="25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159000" y="7772400"/>
            <a:ext cx="4432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Hallym Gothic Medium"/>
              </a:rPr>
              <a:t>커밋</a:t>
            </a:r>
            <a:r>
              <a:rPr lang="en-US" sz="24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Hallym Gothic Medium"/>
              </a:rPr>
              <a:t>랭킹</a:t>
            </a:r>
            <a:r>
              <a:rPr lang="en-US" sz="2400" b="false" i="false" u="none" strike="noStrike">
                <a:solidFill>
                  <a:srgbClr val="000000"/>
                </a:solidFill>
                <a:latin typeface="Hallym Gothic Medium"/>
              </a:rPr>
              <a:t>, </a:t>
            </a:r>
            <a:r>
              <a:rPr lang="ko-KR" sz="2400" b="false" i="false" u="none" strike="noStrike">
                <a:solidFill>
                  <a:srgbClr val="000000"/>
                </a:solidFill>
                <a:ea typeface="Hallym Gothic Medium"/>
              </a:rPr>
              <a:t>분석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1689100"/>
            <a:ext cx="7772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GitHub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로그인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커밋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수집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/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분석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통계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및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랭킹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제공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937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92100" y="4406900"/>
            <a:ext cx="177038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개발</a:t>
            </a:r>
            <a:r>
              <a:rPr lang="en-US" sz="7200" b="false" i="false" u="none" strike="noStrike">
                <a:solidFill>
                  <a:srgbClr val="154C45"/>
                </a:solidFill>
                <a:latin typeface="Hallym Gothic Bold"/>
              </a:rPr>
              <a:t> </a:t>
            </a: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결과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3975100"/>
            <a:ext cx="7848600" cy="482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6845300" y="6388100"/>
            <a:ext cx="48133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601200" y="4203700"/>
            <a:ext cx="2705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마이페이지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663700" y="1333500"/>
            <a:ext cx="37973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개발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결과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92400" y="4864100"/>
            <a:ext cx="5346700" cy="3937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1000" y="4203700"/>
            <a:ext cx="7556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GitHub OAuth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로그인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299700" y="4826000"/>
            <a:ext cx="5384800" cy="396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9144000" y="1689100"/>
            <a:ext cx="7772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GitHub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로그인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커밋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수집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/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분석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통계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및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랭킹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제공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3975100"/>
            <a:ext cx="7848600" cy="482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6845300" y="6388100"/>
            <a:ext cx="48133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601200" y="4203700"/>
            <a:ext cx="2705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내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저장소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663700" y="1333500"/>
            <a:ext cx="37973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개발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결과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1000" y="4203700"/>
            <a:ext cx="7556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커밋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스트릭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54300" y="4838700"/>
            <a:ext cx="5410200" cy="397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325100" y="4838700"/>
            <a:ext cx="5372100" cy="3937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9144000" y="1689100"/>
            <a:ext cx="7772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GitHub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로그인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커밋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수집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/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분석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통계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및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랭킹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제공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3975100"/>
            <a:ext cx="7848600" cy="482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 rot="5400000">
            <a:off x="6845300" y="6388100"/>
            <a:ext cx="4813300" cy="12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601200" y="4203700"/>
            <a:ext cx="27051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인증서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발급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663700" y="1333500"/>
            <a:ext cx="37973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개발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결과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1000" y="4203700"/>
            <a:ext cx="7556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도메인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호스팅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33700" y="4826000"/>
            <a:ext cx="4864100" cy="3937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144000" y="1689100"/>
            <a:ext cx="77724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GitHub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로그인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커밋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수집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/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분석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,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통계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및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랭킹</a:t>
            </a:r>
            <a:r>
              <a:rPr lang="en-US" sz="2200" b="false" i="false" u="none" strike="noStrike">
                <a:solidFill>
                  <a:srgbClr val="9E9E9E"/>
                </a:solidFill>
                <a:latin typeface="Hallym Gothic Regular"/>
              </a:rPr>
              <a:t> </a:t>
            </a:r>
            <a:r>
              <a:rPr lang="ko-KR" sz="2200" b="false" i="false" u="none" strike="noStrike">
                <a:solidFill>
                  <a:srgbClr val="9E9E9E"/>
                </a:solidFill>
                <a:ea typeface="Hallym Gothic Regular"/>
              </a:rPr>
              <a:t>제공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795000" y="4826000"/>
            <a:ext cx="4876800" cy="396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937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92100" y="4406900"/>
            <a:ext cx="177038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시연</a:t>
            </a:r>
            <a:r>
              <a:rPr lang="en-US" sz="7200" b="false" i="false" u="none" strike="noStrike">
                <a:solidFill>
                  <a:srgbClr val="154C45"/>
                </a:solidFill>
                <a:latin typeface="Hallym Gothic Bold"/>
              </a:rPr>
              <a:t> </a:t>
            </a: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영상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937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92100" y="4406900"/>
            <a:ext cx="177038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개발</a:t>
            </a:r>
            <a:r>
              <a:rPr lang="en-US" sz="7200" b="false" i="false" u="none" strike="noStrike">
                <a:solidFill>
                  <a:srgbClr val="154C45"/>
                </a:solidFill>
                <a:latin typeface="Hallym Gothic Bold"/>
              </a:rPr>
              <a:t> </a:t>
            </a: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후기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810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 rot="0">
            <a:off x="368300" y="3009900"/>
            <a:ext cx="17513300" cy="6896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84300" y="8788400"/>
            <a:ext cx="154813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8300" y="381000"/>
            <a:ext cx="4991100" cy="228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46700" y="381000"/>
            <a:ext cx="12547600" cy="228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659100" y="9118600"/>
            <a:ext cx="1219200" cy="241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9E9E9E"/>
                </a:solidFill>
                <a:latin typeface="Hallym Gothic Medium"/>
              </a:rPr>
              <a:t>SSAFY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3700" y="1333500"/>
            <a:ext cx="6235700" cy="1066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개발</a:t>
            </a:r>
            <a:r>
              <a:rPr lang="en-US" sz="6000" b="false" i="false" u="none" strike="noStrike" spc="-300">
                <a:solidFill>
                  <a:srgbClr val="000000"/>
                </a:solidFill>
                <a:latin typeface="Hallym Gothic Bold"/>
              </a:rPr>
              <a:t> </a:t>
            </a:r>
            <a:r>
              <a:rPr lang="ko-KR" sz="6000" b="false" i="false" u="none" strike="noStrike" spc="-300">
                <a:solidFill>
                  <a:srgbClr val="000000"/>
                </a:solidFill>
                <a:ea typeface="Hallym Gothic Bold"/>
              </a:rPr>
              <a:t>후기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1000" y="4203700"/>
            <a:ext cx="75565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Hallym Gothic Bold"/>
              </a:rPr>
              <a:t> 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Hallym Gothic Bold"/>
              </a:rPr>
              <a:t>한예성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09700" y="3949700"/>
            <a:ext cx="154813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384300" y="4826000"/>
            <a:ext cx="154813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45700" y="1371600"/>
            <a:ext cx="5918200" cy="1066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15" id="15"/>
          <p:cNvSpPr txBox="true"/>
          <p:nvPr/>
        </p:nvSpPr>
        <p:spPr>
          <a:xfrm rot="0">
            <a:off x="2133600" y="5029200"/>
            <a:ext cx="3835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후기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63700" y="5029200"/>
            <a:ext cx="368300" cy="3556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803400" y="7404100"/>
            <a:ext cx="6642100" cy="1384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일정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변경으로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계획했던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기능을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모두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구현하지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못한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것이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아쉬웠습니다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.</a:t>
            </a:r>
          </a:p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특히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AI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활용하여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분석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기능을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마련하지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못했는데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, </a:t>
            </a:r>
            <a:b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</a:b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주말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등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시간이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있다면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보완해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나가며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서비스를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확장해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보고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싶습니다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5300" y="5511800"/>
            <a:ext cx="6642100" cy="1435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Spring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안에서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OAuth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동작이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어떻게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되는지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공부하고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적용해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있어서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좋았습니다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.</a:t>
            </a:r>
          </a:p>
          <a:p>
            <a:pPr algn="l" lvl="0" indent="-342900" marL="342900">
              <a:lnSpc>
                <a:spcPct val="153550"/>
              </a:lnSpc>
              <a:buClr>
                <a:srgbClr val="595959"/>
              </a:buClr>
              <a:buFont typeface="Arial"/>
              <a:buChar char="●"/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Spring Batch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사용하여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데이터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배치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처리를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경험해서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 </a:t>
            </a:r>
            <a:r>
              <a:rPr lang="ko-KR" sz="1600" b="false" i="false" u="none" strike="noStrike">
                <a:solidFill>
                  <a:srgbClr val="595959"/>
                </a:solidFill>
                <a:ea typeface="Hallym Gothic Regular"/>
              </a:rPr>
              <a:t>좋았습니다</a:t>
            </a: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>.</a:t>
            </a:r>
          </a:p>
          <a:p>
            <a:pPr algn="l" lvl="0">
              <a:lnSpc>
                <a:spcPct val="153550"/>
              </a:lnSpc>
            </a:pPr>
            <a:r>
              <a:rPr lang="en-US" sz="1600" b="false" i="false" u="none" strike="noStrike">
                <a:solidFill>
                  <a:srgbClr val="595959"/>
                </a:solidFill>
                <a:latin typeface="Hallym Gothic Regular"/>
              </a:rPr>
              <a:t/>
            </a:r>
          </a:p>
        </p:txBody>
      </p:sp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20" id="20"/>
          <p:cNvSpPr txBox="true"/>
          <p:nvPr/>
        </p:nvSpPr>
        <p:spPr>
          <a:xfrm rot="0">
            <a:off x="2171700" y="6908800"/>
            <a:ext cx="38354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아쉬웠던</a:t>
            </a:r>
            <a:r>
              <a:rPr lang="en-US" sz="1800" b="false" i="false" u="none" strike="noStrike">
                <a:solidFill>
                  <a:srgbClr val="000000"/>
                </a:solidFill>
                <a:latin typeface="Hallym Gothic Medium"/>
              </a:rPr>
              <a:t> </a:t>
            </a:r>
            <a:r>
              <a:rPr lang="ko-KR" sz="1800" b="false" i="false" u="none" strike="noStrike">
                <a:solidFill>
                  <a:srgbClr val="000000"/>
                </a:solidFill>
                <a:ea typeface="Hallym Gothic Medium"/>
              </a:rPr>
              <a:t>점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714500" y="6896100"/>
            <a:ext cx="3683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81000" y="393700"/>
            <a:ext cx="17526000" cy="9525000"/>
          </a:xfrm>
          <a:prstGeom prst="rect">
            <a:avLst/>
          </a:prstGeom>
          <a:effectLst>
            <a:outerShdw dir="17040000" dist="0" blurRad="678148">
              <a:srgbClr val="000000">
                <a:alpha val="5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292100" y="4406900"/>
            <a:ext cx="17703800" cy="1282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4580"/>
              </a:lnSpc>
            </a:pPr>
            <a:r>
              <a:rPr lang="ko-KR" sz="7200" b="false" i="false" u="none" strike="noStrike">
                <a:solidFill>
                  <a:srgbClr val="154C45"/>
                </a:solidFill>
                <a:ea typeface="Hallym Gothic 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